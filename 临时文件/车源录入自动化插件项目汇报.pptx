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658368"/>
            <a:ext cx="1828800" cy="384048"/>
          </a:xfrm>
          <a:prstGeom prst="roundRect">
            <a:avLst/>
          </a:prstGeom>
          <a:solidFill>
            <a:srgbClr val="1E293B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项目完成汇报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17320"/>
            <a:ext cx="868680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车源录入自动化插件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40280"/>
            <a:ext cx="896112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900" b="0">
                <a:solidFill>
                  <a:srgbClr val="CBD5E1"/>
                </a:solidFill>
                <a:latin typeface="Microsoft YaHei"/>
              </a:defRPr>
            </a:pPr>
            <a:r>
              <a:t>源表导入 · 平台批量创建 · 车系/车型缺失自动补全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880360"/>
            <a:ext cx="804672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Microsoft YaHei"/>
              </a:defRPr>
            </a:pPr>
            <a:r>
              <a:t>从原始业务表到平台车源创建流程的半自动化落地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800600"/>
            <a:ext cx="1600200" cy="56692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读取源表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50592" y="5084064"/>
            <a:ext cx="429768" cy="0"/>
          </a:xfrm>
          <a:prstGeom prst="line">
            <a:avLst/>
          </a:prstGeom>
          <a:ln w="2159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71800" y="4800600"/>
            <a:ext cx="1600200" cy="56692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自动填充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99432" y="5084064"/>
            <a:ext cx="429768" cy="0"/>
          </a:xfrm>
          <a:prstGeom prst="line">
            <a:avLst/>
          </a:prstGeom>
          <a:ln w="2159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20640" y="4800600"/>
            <a:ext cx="1600200" cy="56692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缺失创建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748272" y="5084064"/>
            <a:ext cx="429768" cy="0"/>
          </a:xfrm>
          <a:prstGeom prst="line">
            <a:avLst/>
          </a:prstGeom>
          <a:ln w="2159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269480" y="4800600"/>
            <a:ext cx="1600200" cy="56692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回到当前车源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97112" y="5084064"/>
            <a:ext cx="429768" cy="0"/>
          </a:xfrm>
          <a:prstGeom prst="line">
            <a:avLst/>
          </a:prstGeom>
          <a:ln w="2159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418320" y="4800600"/>
            <a:ext cx="1600200" cy="56692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自动下一条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6080760"/>
            <a:ext cx="32004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汇报对象：组长 / 项目团队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Microsoft YaHei"/>
              </a:defRPr>
            </a:pPr>
            <a:r>
              <a:t>一、项目背景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77824"/>
            <a:ext cx="9601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icrosoft YaHei"/>
              </a:defRPr>
            </a:pPr>
            <a:r>
              <a:t>解决平台车源录入重复操作多、跨页面链路长的问题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车源录入自动化插件项目汇报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3383280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41732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581912"/>
            <a:ext cx="30632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t>重复录入成本高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984248"/>
            <a:ext cx="306324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每条车辆都要人工查看源表，再到平台逐项填写。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417320"/>
            <a:ext cx="3383280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417320"/>
            <a:ext cx="73152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1581912"/>
            <a:ext cx="30632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t>字段多且需判断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1984248"/>
            <a:ext cx="306324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源表字段与平台字段不完全一致，需要人工理解和转换。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417320"/>
            <a:ext cx="3383280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417320"/>
            <a:ext cx="73152" cy="1143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1581912"/>
            <a:ext cx="30632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t>车系/车型会中断流程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1984248"/>
            <a:ext cx="306324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不存在时需要离开当前车源，去对应管理页面创建。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2971800"/>
            <a:ext cx="3383280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2971800"/>
            <a:ext cx="73152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136392"/>
            <a:ext cx="30632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t>联动关系复杂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3538728"/>
            <a:ext cx="306324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品牌、车系、车型之间存在下拉联动，选错会影响后续字段。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2971800"/>
            <a:ext cx="3383280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2971800"/>
            <a:ext cx="73152" cy="1143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0288" y="3136392"/>
            <a:ext cx="30632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t>人工容易漏填错填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3538728"/>
            <a:ext cx="306324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页面跳转和重复操作多，批量处理时稳定性较差。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2971800"/>
            <a:ext cx="3383280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92440" y="2971800"/>
            <a:ext cx="73152" cy="1143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93608" y="3136392"/>
            <a:ext cx="30632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t>需要保留人工确认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3608" y="3538728"/>
            <a:ext cx="306324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品牌、图片、价格、最终提交仍需业务人员确认。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4956048"/>
            <a:ext cx="1078992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2300" b="1">
                <a:solidFill>
                  <a:srgbClr val="1E40AF"/>
                </a:solidFill>
                <a:latin typeface="Microsoft YaHei"/>
              </a:defRPr>
            </a:pPr>
            <a:r>
              <a:t>项目目标：让插件接管重复、规则化步骤，人工只负责关键业务确认。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Microsoft YaHei"/>
              </a:defRPr>
            </a:pPr>
            <a:r>
              <a:t>二、核心需求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77824"/>
            <a:ext cx="9601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icrosoft YaHei"/>
              </a:defRPr>
            </a:pPr>
            <a:r>
              <a:t>直接读取源表，在平台上逐条创建车源，并自动处理缺失基础数据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车源录入自动化插件项目汇报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325880"/>
            <a:ext cx="10561320" cy="1051560"/>
          </a:xfrm>
          <a:prstGeom prst="roundRect">
            <a:avLst/>
          </a:prstGeom>
          <a:solidFill>
            <a:srgbClr val="DBEAFE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572768"/>
            <a:ext cx="9921240" cy="4754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2100" b="1">
                <a:solidFill>
                  <a:srgbClr val="1E40AF"/>
                </a:solidFill>
                <a:latin typeface="Microsoft YaHei"/>
              </a:defRPr>
            </a:pPr>
            <a:r>
              <a:t>用户导入源表后，插件自动读取车辆数据并在平台重复创建车源；遇到车系或车型不存在时，自动跳转创建，创建完成后返回当前车源继续处理。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063240"/>
            <a:ext cx="2487168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06324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3227832"/>
            <a:ext cx="2167128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源表直接导入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630168"/>
            <a:ext cx="2167128" cy="7315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不要求业务人员手动整理成 CSV 或其他模板。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3063240"/>
            <a:ext cx="2487168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66160" y="3063240"/>
            <a:ext cx="73152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67328" y="3227832"/>
            <a:ext cx="2167128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自动重复创建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7328" y="3630168"/>
            <a:ext cx="2167128" cy="7315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按行读取数据，逐条进入平台新增车源。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79" y="3063240"/>
            <a:ext cx="2487168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79" y="3063240"/>
            <a:ext cx="73152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7" y="3227832"/>
            <a:ext cx="2167128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缺失自动补全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7" y="3630168"/>
            <a:ext cx="2167128" cy="7315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车系/车型不存在时自动跳转对应页面创建。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3999" y="3063240"/>
            <a:ext cx="2487168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3999" y="3063240"/>
            <a:ext cx="73152" cy="14173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45167" y="3227832"/>
            <a:ext cx="2167128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返回继续当前任务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7" y="3630168"/>
            <a:ext cx="2167128" cy="7315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创建完成后回到当前车源，重新填充并继续。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212080"/>
            <a:ext cx="1005840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重点不是“表格转换”，而是把真实平台录入流程自动化。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Microsoft YaHei"/>
              </a:defRPr>
            </a:pPr>
            <a:r>
              <a:t>三、原人工流程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77824"/>
            <a:ext cx="9601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icrosoft YaHei"/>
              </a:defRPr>
            </a:pPr>
            <a:r>
              <a:t>步骤多、页面跳转多、容易中断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车源录入自动化插件项目汇报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160020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查看源表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417320"/>
            <a:ext cx="160020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新增车源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1417320"/>
            <a:ext cx="160020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手动填字段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0" y="1417320"/>
            <a:ext cx="1600200" cy="658368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发现车系/车型缺失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417320"/>
            <a:ext cx="1600200" cy="658368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去管理页创建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95160" y="3154680"/>
            <a:ext cx="1600200" cy="658368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返回重新填写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3154680"/>
            <a:ext cx="20116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上传图片/确认价格/提交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48840" y="3154680"/>
            <a:ext cx="160020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下一条重复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86000" y="1746504"/>
            <a:ext cx="502920" cy="0"/>
          </a:xfrm>
          <a:prstGeom prst="line">
            <a:avLst/>
          </a:prstGeom>
          <a:ln w="2159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389120" y="1746504"/>
            <a:ext cx="502920" cy="0"/>
          </a:xfrm>
          <a:prstGeom prst="line">
            <a:avLst/>
          </a:prstGeom>
          <a:ln w="2159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92240" y="1746504"/>
            <a:ext cx="502920" cy="0"/>
          </a:xfrm>
          <a:prstGeom prst="line">
            <a:avLst/>
          </a:prstGeom>
          <a:ln w="2159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595360" y="1746504"/>
            <a:ext cx="502920" cy="0"/>
          </a:xfrm>
          <a:prstGeom prst="line">
            <a:avLst/>
          </a:prstGeom>
          <a:ln w="2159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7790688" y="2075688"/>
            <a:ext cx="2103120" cy="1078992"/>
          </a:xfrm>
          <a:prstGeom prst="line">
            <a:avLst/>
          </a:prstGeom>
          <a:ln w="2159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6583680" y="3483864"/>
            <a:ext cx="411480" cy="0"/>
          </a:xfrm>
          <a:prstGeom prst="line">
            <a:avLst/>
          </a:prstGeom>
          <a:ln w="2159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749039" y="3483864"/>
            <a:ext cx="822961" cy="0"/>
          </a:xfrm>
          <a:prstGeom prst="line">
            <a:avLst/>
          </a:prstGeom>
          <a:ln w="2159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68680" y="4983480"/>
            <a:ext cx="1051560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2100" b="1">
                <a:solidFill>
                  <a:srgbClr val="DC2626"/>
                </a:solidFill>
                <a:latin typeface="Microsoft YaHei"/>
              </a:defRPr>
            </a:pPr>
            <a:r>
              <a:t>痛点：一旦车系或车型缺失，当前车源创建会被打断，后续还要回到原任务重新处理。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Microsoft YaHei"/>
              </a:defRPr>
            </a:pPr>
            <a:r>
              <a:t>四、插件自动化流程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77824"/>
            <a:ext cx="9601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icrosoft YaHei"/>
              </a:defRPr>
            </a:pPr>
            <a:r>
              <a:t>用状态机串起源表、车源页、车系页、车型页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车源录入自动化插件项目汇报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169164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导入源表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86000" y="1746504"/>
            <a:ext cx="612648" cy="0"/>
          </a:xfrm>
          <a:prstGeom prst="line">
            <a:avLst/>
          </a:prstGeom>
          <a:ln w="2159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98648" y="1417320"/>
            <a:ext cx="169164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解析车辆数据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90288" y="1746504"/>
            <a:ext cx="612648" cy="0"/>
          </a:xfrm>
          <a:prstGeom prst="line">
            <a:avLst/>
          </a:prstGeom>
          <a:ln w="2159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202936" y="1417320"/>
            <a:ext cx="169164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打开新增车源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94576" y="1746504"/>
            <a:ext cx="612648" cy="0"/>
          </a:xfrm>
          <a:prstGeom prst="line">
            <a:avLst/>
          </a:prstGeom>
          <a:ln w="2159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507224" y="1417320"/>
            <a:ext cx="169164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自动填基础字段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98864" y="1746504"/>
            <a:ext cx="612648" cy="0"/>
          </a:xfrm>
          <a:prstGeom prst="line">
            <a:avLst/>
          </a:prstGeom>
          <a:ln w="2159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811512" y="1417320"/>
            <a:ext cx="169164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人工选择品牌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11512" y="2971800"/>
            <a:ext cx="169164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检测车系/车型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8732520" y="3300984"/>
            <a:ext cx="1078992" cy="0"/>
          </a:xfrm>
          <a:prstGeom prst="line">
            <a:avLst/>
          </a:prstGeom>
          <a:ln w="2159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507224" y="2971800"/>
            <a:ext cx="169164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缺失则跳转创建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6428232" y="3300984"/>
            <a:ext cx="1078992" cy="0"/>
          </a:xfrm>
          <a:prstGeom prst="line">
            <a:avLst/>
          </a:prstGeom>
          <a:ln w="2159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202936" y="2971800"/>
            <a:ext cx="169164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返回当前车源重填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4123944" y="3300984"/>
            <a:ext cx="1078992" cy="0"/>
          </a:xfrm>
          <a:prstGeom prst="line">
            <a:avLst/>
          </a:prstGeom>
          <a:ln w="2159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898648" y="2971800"/>
            <a:ext cx="169164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人工提交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1819656" y="3300984"/>
            <a:ext cx="1078992" cy="0"/>
          </a:xfrm>
          <a:prstGeom prst="line">
            <a:avLst/>
          </a:prstGeom>
          <a:ln w="2159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94360" y="2971800"/>
            <a:ext cx="169164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自动下一条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0" y="2075688"/>
            <a:ext cx="1508760" cy="896112"/>
          </a:xfrm>
          <a:prstGeom prst="line">
            <a:avLst/>
          </a:prstGeom>
          <a:ln w="2159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4400" y="4663440"/>
            <a:ext cx="310896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" y="4663440"/>
            <a:ext cx="73152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5568" y="4828031"/>
            <a:ext cx="2788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Microsoft YaHei"/>
              </a:defRPr>
            </a:pPr>
            <a:r>
              <a:t>正常路径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5230368"/>
            <a:ext cx="278892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车系/车型存在 → 填充完成 → 人工提交 → 下一条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0" y="4663440"/>
            <a:ext cx="310896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0" y="4663440"/>
            <a:ext cx="73152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73168" y="4828031"/>
            <a:ext cx="2788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Microsoft YaHei"/>
              </a:defRPr>
            </a:pPr>
            <a:r>
              <a:t>异常路径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73168" y="5230368"/>
            <a:ext cx="278892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车系/车型缺失 → 自动创建 → 回来重填当前车源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4663440"/>
            <a:ext cx="310896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4663440"/>
            <a:ext cx="73152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30768" y="4828031"/>
            <a:ext cx="2788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Microsoft YaHei"/>
              </a:defRPr>
            </a:pPr>
            <a:r>
              <a:t>安全边界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30768" y="5230368"/>
            <a:ext cx="278892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品牌、图片、价格、提交保留人工确认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Microsoft YaHei"/>
              </a:defRPr>
            </a:pPr>
            <a:r>
              <a:t>五、整体实现架构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77824"/>
            <a:ext cx="9601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icrosoft YaHei"/>
              </a:defRPr>
            </a:pPr>
            <a:r>
              <a:t>数据解析、字段映射、状态控制、页面自动化分层实现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车源录入自动化插件项目汇报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25880"/>
            <a:ext cx="2148840" cy="56692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40AF"/>
                </a:solidFill>
                <a:latin typeface="Microsoft YaHei"/>
              </a:defRPr>
            </a:pPr>
            <a:r>
              <a:t>源表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039112"/>
            <a:ext cx="192024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原始业务数据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1325880"/>
            <a:ext cx="2148840" cy="56692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40AF"/>
                </a:solidFill>
                <a:latin typeface="Microsoft YaHei"/>
              </a:defRPr>
            </a:pPr>
            <a:r>
              <a:t>解析模块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7016" y="2039112"/>
            <a:ext cx="192024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识别表结构</a:t>
            </a:r>
            <a:br/>
            <a:r>
              <a:t>提取关键字段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0216" y="1325880"/>
            <a:ext cx="2148840" cy="56692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40AF"/>
                </a:solidFill>
                <a:latin typeface="Microsoft YaHei"/>
              </a:defRPr>
            </a:pPr>
            <a:r>
              <a:t>字段映射模块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2039112"/>
            <a:ext cx="192024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转换平台字段</a:t>
            </a:r>
            <a:br/>
            <a:r>
              <a:t>推断车系车型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53144" y="1325880"/>
            <a:ext cx="2148840" cy="56692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40AF"/>
                </a:solidFill>
                <a:latin typeface="Microsoft YaHei"/>
              </a:defRPr>
            </a:pPr>
            <a:r>
              <a:t>状态存储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2872" y="2039112"/>
            <a:ext cx="192024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当前行</a:t>
            </a:r>
            <a:br/>
            <a:r>
              <a:t>当前阶段</a:t>
            </a:r>
            <a:br/>
            <a:r>
              <a:t>任务锁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383280"/>
            <a:ext cx="2148840" cy="56692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40AF"/>
                </a:solidFill>
                <a:latin typeface="Microsoft YaHei"/>
              </a:defRPr>
            </a:pPr>
            <a:r>
              <a:t>侧边栏控制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096512"/>
            <a:ext cx="192024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导入</a:t>
            </a:r>
            <a:br/>
            <a:r>
              <a:t>开始/暂停</a:t>
            </a:r>
            <a:br/>
            <a:r>
              <a:t>流程推进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47288" y="3383280"/>
            <a:ext cx="2148840" cy="56692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40AF"/>
                </a:solidFill>
                <a:latin typeface="Microsoft YaHei"/>
              </a:defRPr>
            </a:pPr>
            <a:r>
              <a:t>页面自动化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7016" y="4096512"/>
            <a:ext cx="192024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DOM 填充</a:t>
            </a:r>
            <a:br/>
            <a:r>
              <a:t>跳转创建</a:t>
            </a:r>
            <a:br/>
            <a:r>
              <a:t>监听提交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0216" y="3383280"/>
            <a:ext cx="2148840" cy="566928"/>
          </a:xfrm>
          <a:prstGeom prst="roundRect">
            <a:avLst/>
          </a:prstGeom>
          <a:solidFill>
            <a:srgbClr val="E2E8F0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平台页面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4096512"/>
            <a:ext cx="192024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车源 / 车系 / 车型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743200" y="1609344"/>
            <a:ext cx="704088" cy="0"/>
          </a:xfrm>
          <a:prstGeom prst="line">
            <a:avLst/>
          </a:prstGeom>
          <a:ln w="2159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596128" y="1609344"/>
            <a:ext cx="704088" cy="0"/>
          </a:xfrm>
          <a:prstGeom prst="line">
            <a:avLst/>
          </a:prstGeom>
          <a:ln w="2159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449056" y="1609344"/>
            <a:ext cx="704088" cy="0"/>
          </a:xfrm>
          <a:prstGeom prst="line">
            <a:avLst/>
          </a:prstGeom>
          <a:ln w="2159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743200" y="3666744"/>
            <a:ext cx="704088" cy="0"/>
          </a:xfrm>
          <a:prstGeom prst="line">
            <a:avLst/>
          </a:prstGeom>
          <a:ln w="2159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596128" y="3666744"/>
            <a:ext cx="704088" cy="0"/>
          </a:xfrm>
          <a:prstGeom prst="line">
            <a:avLst/>
          </a:prstGeom>
          <a:ln w="2159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1664208" y="1609344"/>
            <a:ext cx="6592823" cy="1773936"/>
          </a:xfrm>
          <a:prstGeom prst="line">
            <a:avLst/>
          </a:prstGeom>
          <a:ln w="2159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5577840"/>
            <a:ext cx="107899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2100" b="1">
                <a:solidFill>
                  <a:srgbClr val="0F172A"/>
                </a:solidFill>
                <a:latin typeface="Microsoft YaHei"/>
              </a:defRPr>
            </a:pPr>
            <a:r>
              <a:t>模块边界清晰：源表处理和平台操作分开，便于后续维护和扩展。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Microsoft YaHei"/>
              </a:defRPr>
            </a:pPr>
            <a:r>
              <a:t>六、关键功能完成情况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77824"/>
            <a:ext cx="9601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icrosoft YaHei"/>
              </a:defRPr>
            </a:pPr>
            <a:r>
              <a:t>覆盖从导入到批量创建的完整链路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车源录入自动化插件项目汇报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34440"/>
            <a:ext cx="3154680" cy="4480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234440"/>
            <a:ext cx="73152" cy="4480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399032"/>
            <a:ext cx="2834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数据处理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874519"/>
            <a:ext cx="2651760" cy="32918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t>✓ 源表直接导入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t>✓ 自动提取车辆关键字段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t>✓ 自动转换平台填充字段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t>✓ 批量逐条创建车源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t>✓ 自动打开新增车源页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234440"/>
            <a:ext cx="3154680" cy="4480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234440"/>
            <a:ext cx="73152" cy="4480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399032"/>
            <a:ext cx="2834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流程自动化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1874519"/>
            <a:ext cx="2651760" cy="32918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t>✓ 自动填充基础信息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t>✓ 人工选择品牌后继续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t>✓ 车系不存在自动创建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t>✓ 车型不存在自动创建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t>✓ 创建完成后返回重填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1234440"/>
            <a:ext cx="3154680" cy="4480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1234440"/>
            <a:ext cx="73152" cy="4480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6448" y="1399032"/>
            <a:ext cx="2834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稳定性与体验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1" y="1874519"/>
            <a:ext cx="2651760" cy="32918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t>✓ 人工提交成功后自动下一条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t>✓ 品牌一致性控制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t>✓ 页面提示放大并简化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t>✓ 异常状态防卡死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t>✓ 完整测试数据准备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Microsoft YaHei"/>
              </a:defRPr>
            </a:pPr>
            <a:r>
              <a:t>七、关键问题与解决方案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77824"/>
            <a:ext cx="9601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icrosoft YaHei"/>
              </a:defRPr>
            </a:pPr>
            <a:r>
              <a:t>围绕真实平台流程解决中断、联动和稳定性问题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车源录入自动化插件项目汇报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234440"/>
            <a:ext cx="329184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源表与平台字段不一致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51960" y="1563624"/>
            <a:ext cx="594360" cy="0"/>
          </a:xfrm>
          <a:prstGeom prst="line">
            <a:avLst/>
          </a:prstGeom>
          <a:ln w="2159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983480" y="1143000"/>
            <a:ext cx="6263640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3480" y="1143000"/>
            <a:ext cx="73152" cy="8412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4648" y="1307592"/>
            <a:ext cx="59436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t>解决方案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4648" y="1709928"/>
            <a:ext cx="5943600" cy="1554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增加解析与映射规则，自动提取并转换为平台字段。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377440"/>
            <a:ext cx="329184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车系/车型缺失会中断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51960" y="2706624"/>
            <a:ext cx="594360" cy="0"/>
          </a:xfrm>
          <a:prstGeom prst="line">
            <a:avLst/>
          </a:prstGeom>
          <a:ln w="2159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983480" y="2286000"/>
            <a:ext cx="6263640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83480" y="2286000"/>
            <a:ext cx="73152" cy="8412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84648" y="2450592"/>
            <a:ext cx="59436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t>解决方案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4648" y="2852928"/>
            <a:ext cx="5943600" cy="1554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检测缺失后自动跳转创建，完成后返回当前车源。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520440"/>
            <a:ext cx="329184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品牌联动容易出错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251960" y="3849624"/>
            <a:ext cx="594360" cy="0"/>
          </a:xfrm>
          <a:prstGeom prst="line">
            <a:avLst/>
          </a:prstGeom>
          <a:ln w="2159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983480" y="3429000"/>
            <a:ext cx="6263640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83480" y="3429000"/>
            <a:ext cx="73152" cy="8412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84648" y="3593592"/>
            <a:ext cx="59436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t>解决方案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4648" y="3995928"/>
            <a:ext cx="5943600" cy="1554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品牌保留人工选择，并记录确认品牌贯穿后续流程。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663440"/>
            <a:ext cx="329184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页面动态渲染不稳定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51960" y="4992624"/>
            <a:ext cx="594360" cy="0"/>
          </a:xfrm>
          <a:prstGeom prst="line">
            <a:avLst/>
          </a:prstGeom>
          <a:ln w="2159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983480" y="4572000"/>
            <a:ext cx="6263640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83480" y="4572000"/>
            <a:ext cx="73152" cy="8412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84648" y="4736592"/>
            <a:ext cx="59436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t>解决方案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84648" y="5138928"/>
            <a:ext cx="5943600" cy="1554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增加 DOM 定位、等待机制、下拉兼容和状态兜底。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Microsoft YaHei"/>
              </a:defRPr>
            </a:pPr>
            <a:r>
              <a:t>八、品牌一致性与人工确认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77824"/>
            <a:ext cx="9601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icrosoft YaHei"/>
              </a:defRPr>
            </a:pPr>
            <a:r>
              <a:t>自动化提升效率，但关键业务判断仍由人工把关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车源录入自动化插件项目汇报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463040"/>
            <a:ext cx="2194560" cy="713232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车源新增页</a:t>
            </a:r>
            <a:br/>
            <a:r>
              <a:t>人工选择品牌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54680" y="1819656"/>
            <a:ext cx="868680" cy="0"/>
          </a:xfrm>
          <a:prstGeom prst="line">
            <a:avLst/>
          </a:prstGeom>
          <a:ln w="2159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069080" y="1463040"/>
            <a:ext cx="2194560" cy="713232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记录确认品牌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309360" y="1819656"/>
            <a:ext cx="868680" cy="0"/>
          </a:xfrm>
          <a:prstGeom prst="line">
            <a:avLst/>
          </a:prstGeom>
          <a:ln w="2159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23760" y="1463040"/>
            <a:ext cx="2194560" cy="713232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创建车系/车型</a:t>
            </a:r>
            <a:br/>
            <a:r>
              <a:t>沿用同一品牌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971800"/>
            <a:ext cx="2926080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2971800"/>
            <a:ext cx="73152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3136392"/>
            <a:ext cx="26060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t>不盲目决定品牌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538728"/>
            <a:ext cx="260604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避免源表推断品牌与平台实际选择不一致。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2971800"/>
            <a:ext cx="2926080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17720" y="2971800"/>
            <a:ext cx="73152" cy="1143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18888" y="3136392"/>
            <a:ext cx="26060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t>创建前做一致性校验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18888" y="3538728"/>
            <a:ext cx="260604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未拿到确认品牌时，阻止自动创建。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2971800"/>
            <a:ext cx="2926080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21040" y="2971800"/>
            <a:ext cx="73152" cy="1143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22208" y="3136392"/>
            <a:ext cx="26060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t>人工保留最终控制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8" y="3538728"/>
            <a:ext cx="260604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图片、价格、提交仍由业务人员确认。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074920"/>
            <a:ext cx="10332720" cy="42062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2400" b="1">
                <a:solidFill>
                  <a:srgbClr val="1E40AF"/>
                </a:solidFill>
                <a:latin typeface="Microsoft YaHei"/>
              </a:defRPr>
            </a:pPr>
            <a:r>
              <a:t>原则：自动化处理重复动作，人工确认关键业务数据。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Microsoft YaHei"/>
              </a:defRPr>
            </a:pPr>
            <a:r>
              <a:t>九、测试与验证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77824"/>
            <a:ext cx="9601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icrosoft YaHei"/>
              </a:defRPr>
            </a:pPr>
            <a:r>
              <a:t>已准备源表格式测试数据，并完成核心脚本检查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车源录入自动化插件项目汇报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34440"/>
            <a:ext cx="333756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23444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399032"/>
            <a:ext cx="30175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t>测试数据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801368"/>
            <a:ext cx="3017520" cy="5486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基于源表格式准备多行测试数据，覆盖不同车辆类型和缺失字段场景。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234440"/>
            <a:ext cx="333756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23444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7" y="1399032"/>
            <a:ext cx="30175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t>流程覆盖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1801368"/>
            <a:ext cx="3017520" cy="5486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验证源表导入、自动填充、缺失创建、返回重填、自动下一条。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234440"/>
            <a:ext cx="333756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234440"/>
            <a:ext cx="731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8" y="1399032"/>
            <a:ext cx="30175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t>代码检查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1801368"/>
            <a:ext cx="3017520" cy="5486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核心脚本已完成语法检查，没有语法错误。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063240"/>
            <a:ext cx="10515600" cy="15544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700">
                <a:solidFill>
                  <a:srgbClr val="0F172A"/>
                </a:solidFill>
                <a:latin typeface="Microsoft YaHei"/>
              </a:defRPr>
            </a:pPr>
            <a:r>
              <a:t>正常车源数据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700">
                <a:solidFill>
                  <a:srgbClr val="0F172A"/>
                </a:solidFill>
                <a:latin typeface="Microsoft YaHei"/>
              </a:defRPr>
            </a:pPr>
            <a:r>
              <a:t>不同车辆类型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700">
                <a:solidFill>
                  <a:srgbClr val="0F172A"/>
                </a:solidFill>
                <a:latin typeface="Microsoft YaHei"/>
              </a:defRPr>
            </a:pPr>
            <a:r>
              <a:t>车系不存在场景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700">
                <a:solidFill>
                  <a:srgbClr val="0F172A"/>
                </a:solidFill>
                <a:latin typeface="Microsoft YaHei"/>
              </a:defRPr>
            </a:pPr>
            <a:r>
              <a:t>车型不存在场景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700">
                <a:solidFill>
                  <a:srgbClr val="0F172A"/>
                </a:solidFill>
                <a:latin typeface="Microsoft YaHei"/>
              </a:defRPr>
            </a:pPr>
            <a:r>
              <a:t>VIN 缺失场景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700">
                <a:solidFill>
                  <a:srgbClr val="0F172A"/>
                </a:solidFill>
                <a:latin typeface="Microsoft YaHei"/>
              </a:defRPr>
            </a:pPr>
            <a:r>
              <a:t>品牌人工选择场景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700">
                <a:solidFill>
                  <a:srgbClr val="0F172A"/>
                </a:solidFill>
                <a:latin typeface="Microsoft YaHei"/>
              </a:defRPr>
            </a:pPr>
            <a:r>
              <a:t>创建完成后返回重填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700">
                <a:solidFill>
                  <a:srgbClr val="0F172A"/>
                </a:solidFill>
                <a:latin typeface="Microsoft YaHei"/>
              </a:defRPr>
            </a:pPr>
            <a:r>
              <a:t>提交成功后自动下一条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321808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2400" b="1">
                <a:solidFill>
                  <a:srgbClr val="16A34A"/>
                </a:solidFill>
                <a:latin typeface="Microsoft YaHei"/>
              </a:defRPr>
            </a:pPr>
            <a:r>
              <a:t>当前状态：开发完成，具备进入平台完整联调和验收的条件。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Microsoft YaHei"/>
              </a:defRPr>
            </a:pPr>
            <a:r>
              <a:t>十、总结与后续计划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77824"/>
            <a:ext cx="9601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icrosoft YaHei"/>
              </a:defRPr>
            </a:pPr>
            <a:r>
              <a:t>项目已完成完整业务链路，下一步建议进行平台回归验证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车源录入自动化插件项目汇报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234440"/>
            <a:ext cx="4983480" cy="1965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234440"/>
            <a:ext cx="73152" cy="1965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1399032"/>
            <a:ext cx="46634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900" b="1">
                <a:solidFill>
                  <a:srgbClr val="0F172A"/>
                </a:solidFill>
                <a:latin typeface="Microsoft YaHei"/>
              </a:defRPr>
            </a:pPr>
            <a:r>
              <a:t>当前完成结果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801368"/>
            <a:ext cx="4663440" cy="12801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Microsoft YaHei"/>
              </a:defRPr>
            </a:pPr>
            <a:r>
              <a:t>插件已实现源表导入、字段解析、批量车源创建、车系/车型缺失自动创建、返回重填、人工提交后自动下一条等完整流程。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234440"/>
            <a:ext cx="4983480" cy="1965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234440"/>
            <a:ext cx="73152" cy="1965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1399032"/>
            <a:ext cx="46634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900" b="1">
                <a:solidFill>
                  <a:srgbClr val="0F172A"/>
                </a:solidFill>
                <a:latin typeface="Microsoft YaHei"/>
              </a:defRPr>
            </a:pPr>
            <a:r>
              <a:t>后续建议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1801368"/>
            <a:ext cx="4663440" cy="12801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Microsoft YaHei"/>
              </a:defRPr>
            </a:pPr>
            <a:r>
              <a:t>在平台环境跑完整回归测试，重点验证多条连续处理、缺失创建、品牌一致性和人工提交后推进。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86200"/>
            <a:ext cx="18288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项目价值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572000"/>
            <a:ext cx="2148840" cy="530352"/>
          </a:xfrm>
          <a:prstGeom prst="round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40AF"/>
                </a:solidFill>
                <a:latin typeface="Microsoft YaHei"/>
              </a:defRPr>
            </a:pPr>
            <a:r>
              <a:t>减少重复录入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4572000"/>
            <a:ext cx="2148840" cy="530352"/>
          </a:xfrm>
          <a:prstGeom prst="round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40AF"/>
                </a:solidFill>
                <a:latin typeface="Microsoft YaHei"/>
              </a:defRPr>
            </a:pPr>
            <a:r>
              <a:t>降低漏填错填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4572000"/>
            <a:ext cx="2148840" cy="530352"/>
          </a:xfrm>
          <a:prstGeom prst="round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40AF"/>
                </a:solidFill>
                <a:latin typeface="Microsoft YaHei"/>
              </a:defRPr>
            </a:pPr>
            <a:r>
              <a:t>自动补齐基础数据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39" y="4572000"/>
            <a:ext cx="2148840" cy="530352"/>
          </a:xfrm>
          <a:prstGeom prst="round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40AF"/>
                </a:solidFill>
                <a:latin typeface="Microsoft YaHei"/>
              </a:defRPr>
            </a:pPr>
            <a:r>
              <a:t>提升批量处理效率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715000"/>
            <a:ext cx="10332720" cy="42062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2400" b="1">
                <a:solidFill>
                  <a:srgbClr val="1E40AF"/>
                </a:solidFill>
                <a:latin typeface="Microsoft YaHei"/>
              </a:defRPr>
            </a:pPr>
            <a:r>
              <a:t>自动化重复流程，保留人工确认，兼顾效率与数据准确性。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